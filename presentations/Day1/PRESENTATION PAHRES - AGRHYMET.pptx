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8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392" r:id="rId2"/>
    <p:sldId id="735" r:id="rId3"/>
    <p:sldId id="741" r:id="rId4"/>
    <p:sldId id="734" r:id="rId5"/>
    <p:sldId id="739" r:id="rId6"/>
    <p:sldId id="736" r:id="rId7"/>
    <p:sldId id="257" r:id="rId8"/>
    <p:sldId id="258" r:id="rId9"/>
    <p:sldId id="738" r:id="rId10"/>
    <p:sldId id="740" r:id="rId11"/>
    <p:sldId id="742" r:id="rId12"/>
    <p:sldId id="267" r:id="rId13"/>
  </p:sldIdLst>
  <p:sldSz cx="9144000" cy="6858000" type="screen4x3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9933"/>
    <a:srgbClr val="0000FF"/>
    <a:srgbClr val="0066CC"/>
    <a:srgbClr val="00CC00"/>
    <a:srgbClr val="FF6600"/>
    <a:srgbClr val="777777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0741" autoAdjust="0"/>
  </p:normalViewPr>
  <p:slideViewPr>
    <p:cSldViewPr>
      <p:cViewPr varScale="1">
        <p:scale>
          <a:sx n="90" d="100"/>
          <a:sy n="90" d="100"/>
        </p:scale>
        <p:origin x="1685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2381C-7FE5-42A3-8F70-B0044B14DD27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C1703-8DA3-4DA2-9F01-D3793F279A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24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89F63B-3403-46A2-91F8-C150D9C9DF1D}" type="slidenum">
              <a:rPr lang="fr-FR" altLang="en-US"/>
              <a:pPr/>
              <a:t>‹N°›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5213004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013332858"/>
      </p:ext>
    </p:extLst>
  </p:cSld>
  <p:clrMapOvr>
    <a:masterClrMapping/>
  </p:clrMapOvr>
  <p:transition spd="slow">
    <p:spli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41735770"/>
      </p:ext>
    </p:extLst>
  </p:cSld>
  <p:clrMapOvr>
    <a:masterClrMapping/>
  </p:clrMapOvr>
  <p:transition spd="slow">
    <p:spli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43392997"/>
      </p:ext>
    </p:extLst>
  </p:cSld>
  <p:clrMapOvr>
    <a:masterClrMapping/>
  </p:clrMapOvr>
  <p:transition spd="slow"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03300823"/>
      </p:ext>
    </p:extLst>
  </p:cSld>
  <p:clrMapOvr>
    <a:masterClrMapping/>
  </p:clrMapOvr>
  <p:transition spd="slow">
    <p:spli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87596479"/>
      </p:ext>
    </p:extLst>
  </p:cSld>
  <p:clrMapOvr>
    <a:masterClrMapping/>
  </p:clrMapOvr>
  <p:transition spd="slow">
    <p:spli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088876719"/>
      </p:ext>
    </p:extLst>
  </p:cSld>
  <p:clrMapOvr>
    <a:masterClrMapping/>
  </p:clrMapOvr>
  <p:transition spd="slow">
    <p:spli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780966"/>
      </p:ext>
    </p:extLst>
  </p:cSld>
  <p:clrMapOvr>
    <a:masterClrMapping/>
  </p:clrMapOvr>
  <p:transition spd="slow">
    <p:spli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793749476"/>
      </p:ext>
    </p:extLst>
  </p:cSld>
  <p:clrMapOvr>
    <a:masterClrMapping/>
  </p:clrMapOvr>
  <p:transition spd="slow">
    <p:spli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89770856"/>
      </p:ext>
    </p:extLst>
  </p:cSld>
  <p:clrMapOvr>
    <a:masterClrMapping/>
  </p:clrMapOvr>
  <p:transition spd="slow"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61037420"/>
      </p:ext>
    </p:extLst>
  </p:cSld>
  <p:clrMapOvr>
    <a:masterClrMapping/>
  </p:clrMapOvr>
  <p:transition spd="slow">
    <p:spli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16029141"/>
      </p:ext>
    </p:extLst>
  </p:cSld>
  <p:clrMapOvr>
    <a:masterClrMapping/>
  </p:clrMapOvr>
  <p:transition spd="slow">
    <p:spli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21476003"/>
      </p:ext>
    </p:extLst>
  </p:cSld>
  <p:clrMapOvr>
    <a:masterClrMapping/>
  </p:clrMapOvr>
  <p:transition spd="slow">
    <p:spli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re. 2 contenus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321441229"/>
      </p:ext>
    </p:extLst>
  </p:cSld>
  <p:clrMapOvr>
    <a:masterClrMapping/>
  </p:clrMapOvr>
  <p:transition spd="slow">
    <p:split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radig rubrik och innehål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enradig rubriktext"/>
          <p:cNvSpPr>
            <a:spLocks noGrp="1"/>
          </p:cNvSpPr>
          <p:nvPr>
            <p:ph type="title" hasCustomPrompt="1"/>
          </p:nvPr>
        </p:nvSpPr>
        <p:spPr>
          <a:xfrm>
            <a:off x="320400" y="480000"/>
            <a:ext cx="7801200" cy="696000"/>
          </a:xfrm>
        </p:spPr>
        <p:txBody>
          <a:bodyPr wrap="none" lIns="90000" rIns="90000" anchor="t">
            <a:noAutofit/>
          </a:bodyPr>
          <a:lstStyle>
            <a:lvl1pPr>
              <a:defRPr lang="sv-SE" sz="2800" kern="1200" dirty="0" smtClean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sv-SE" sz="2800" dirty="0">
                <a:latin typeface="Arial Black" panose="020B0A04020102020204" pitchFamily="34" charset="0"/>
              </a:rPr>
              <a:t>Klicka för att lägga till enradig rubrik</a:t>
            </a:r>
            <a:endParaRPr lang="sv-SE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200000"/>
            <a:ext cx="8280000" cy="5178000"/>
          </a:xfrm>
        </p:spPr>
        <p:txBody>
          <a:bodyPr lIns="0" rIns="9000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 err="1"/>
              <a:t>Skriv</a:t>
            </a:r>
            <a:r>
              <a:rPr lang="en-US" dirty="0"/>
              <a:t> text </a:t>
            </a:r>
            <a:r>
              <a:rPr lang="en-US" dirty="0" err="1"/>
              <a:t>här</a:t>
            </a:r>
            <a:endParaRPr lang="en-US" dirty="0"/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64A1E60A-C915-007D-CDC7-8A1B94E3E37B}"/>
              </a:ext>
            </a:extLst>
          </p:cNvPr>
          <p:cNvPicPr/>
          <p:nvPr userDrawn="1"/>
        </p:nvPicPr>
        <p:blipFill>
          <a:blip r:embed="rId2"/>
          <a:stretch/>
        </p:blipFill>
        <p:spPr bwMode="auto">
          <a:xfrm>
            <a:off x="7942303" y="184069"/>
            <a:ext cx="426719" cy="47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55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72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00113" cy="6858000"/>
          </a:xfrm>
          <a:prstGeom prst="rect">
            <a:avLst/>
          </a:prstGeom>
          <a:solidFill>
            <a:srgbClr val="008000"/>
          </a:solidFill>
          <a:ln w="317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WordArt 3"/>
          <p:cNvSpPr>
            <a:spLocks noChangeArrowheads="1" noChangeShapeType="1" noTextEdit="1"/>
          </p:cNvSpPr>
          <p:nvPr/>
        </p:nvSpPr>
        <p:spPr bwMode="auto">
          <a:xfrm rot="-5400000">
            <a:off x="-889000" y="5168901"/>
            <a:ext cx="2505075" cy="495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 dirty="0">
                <a:ln w="9525">
                  <a:solidFill>
                    <a:srgbClr val="FF99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www.cilss.int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 rot="-5400000">
            <a:off x="-1051719" y="2210595"/>
            <a:ext cx="2828925" cy="366712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fr-FR" altLang="fr-FR" b="1" dirty="0">
                <a:solidFill>
                  <a:schemeClr val="bg1"/>
                </a:solidFill>
                <a:latin typeface="Arial Narrow" pitchFamily="34" charset="0"/>
              </a:rPr>
              <a:t>Un autre Sahel est possible !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323850" y="3933825"/>
            <a:ext cx="144463" cy="144463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pic>
        <p:nvPicPr>
          <p:cNvPr id="1030" name="Picture 6" descr="cilss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150" y="6524625"/>
            <a:ext cx="250825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3" y="54361"/>
            <a:ext cx="800880" cy="7997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ransition spd="slow">
    <p:split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69014/cloud-computing-by-mrallowski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hyperlink" Target="http://www.fanfar.eu/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hares-agrhymet.cilss.int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84076" y="188640"/>
            <a:ext cx="7772400" cy="1469247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fr-FR" sz="4000" b="1" dirty="0">
                <a:solidFill>
                  <a:srgbClr val="FF0000"/>
                </a:solidFill>
                <a:latin typeface="Franklin Gothic Demi Cond" panose="020B0706030402020204" pitchFamily="34" charset="0"/>
              </a:rPr>
              <a:t>Introduction à la plateforme PHARES</a:t>
            </a:r>
          </a:p>
        </p:txBody>
      </p:sp>
      <p:sp>
        <p:nvSpPr>
          <p:cNvPr id="7" name="Text Box 33">
            <a:extLst>
              <a:ext uri="{FF2B5EF4-FFF2-40B4-BE49-F238E27FC236}">
                <a16:creationId xmlns:a16="http://schemas.microsoft.com/office/drawing/2014/main" id="{7E61D414-857B-383E-8B64-541474206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5296852"/>
            <a:ext cx="698924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fr-FR" sz="1600" b="1" dirty="0">
                <a:solidFill>
                  <a:srgbClr val="339933"/>
                </a:solidFill>
                <a:latin typeface="Arial Narrow" panose="020B0606020202030204" pitchFamily="34" charset="0"/>
              </a:rPr>
              <a:t>Valentin IOGO, Expert Informaticien-Géomaticien</a:t>
            </a:r>
            <a:br>
              <a:rPr lang="fr-FR" sz="1600" b="1" dirty="0">
                <a:solidFill>
                  <a:srgbClr val="339933"/>
                </a:solidFill>
                <a:latin typeface="Arial Narrow" panose="020B0606020202030204" pitchFamily="34" charset="0"/>
              </a:rPr>
            </a:br>
            <a:r>
              <a:rPr lang="fr-FR" sz="1600" b="1" dirty="0">
                <a:solidFill>
                  <a:srgbClr val="339933"/>
                </a:solidFill>
                <a:latin typeface="Arial Narrow" panose="020B0606020202030204" pitchFamily="34" charset="0"/>
              </a:rPr>
              <a:t>AGRHYMET, Niamey, Niger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9B668B9-F107-1C18-3B34-2863B674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268760"/>
            <a:ext cx="3960440" cy="346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243034"/>
      </p:ext>
    </p:extLst>
  </p:cSld>
  <p:clrMapOvr>
    <a:masterClrMapping/>
  </p:clrMapOvr>
  <p:transition spd="slow"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50BD2-6DD7-680C-A489-14EB3470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404664"/>
            <a:ext cx="8229600" cy="922114"/>
          </a:xfrm>
        </p:spPr>
        <p:txBody>
          <a:bodyPr/>
          <a:lstStyle/>
          <a:p>
            <a:r>
              <a:rPr lang="fr-FR" b="1" dirty="0"/>
              <a:t>Contenu de la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A010A0-04F3-9D01-B480-8ABCC628A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556793"/>
            <a:ext cx="7632848" cy="432048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fr-FR" sz="2800" b="1" dirty="0"/>
              <a:t>Vision de la plateforme PHARES</a:t>
            </a:r>
          </a:p>
          <a:p>
            <a:pPr marL="0" indent="0">
              <a:buNone/>
            </a:pPr>
            <a:endParaRPr lang="fr-FR" sz="28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fr-FR" sz="2800" b="1" dirty="0"/>
              <a:t> </a:t>
            </a:r>
            <a:r>
              <a:rPr lang="sv-SE" sz="2800" b="1" dirty="0"/>
              <a:t>Development et p</a:t>
            </a:r>
            <a:r>
              <a:rPr lang="fr-FR" sz="2800" b="1" dirty="0" err="1"/>
              <a:t>roduction</a:t>
            </a:r>
            <a:r>
              <a:rPr lang="fr-FR" sz="2800" b="1" dirty="0"/>
              <a:t> de </a:t>
            </a:r>
            <a:r>
              <a:rPr lang="sv-SE" sz="2800" b="1" dirty="0"/>
              <a:t>PHARES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28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fr-FR" sz="2800" b="1" dirty="0"/>
              <a:t>Portail de visualisation</a:t>
            </a:r>
          </a:p>
          <a:p>
            <a:pPr>
              <a:buFont typeface="Wingdings" panose="05000000000000000000" pitchFamily="2" charset="2"/>
              <a:buChar char="v"/>
            </a:pPr>
            <a:endParaRPr lang="fr-FR" sz="28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PHARES API for West Africa and Sahel</a:t>
            </a:r>
          </a:p>
        </p:txBody>
      </p:sp>
    </p:spTree>
    <p:extLst>
      <p:ext uri="{BB962C8B-B14F-4D97-AF65-F5344CB8AC3E}">
        <p14:creationId xmlns:p14="http://schemas.microsoft.com/office/powerpoint/2010/main" val="418619438"/>
      </p:ext>
    </p:extLst>
  </p:cSld>
  <p:clrMapOvr>
    <a:masterClrMapping/>
  </p:clrMapOvr>
  <p:transition spd="slow"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51833-3BF6-6EEA-1F7B-78505EFAF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48" y="260648"/>
            <a:ext cx="7289172" cy="864096"/>
          </a:xfrm>
        </p:spPr>
        <p:txBody>
          <a:bodyPr/>
          <a:lstStyle/>
          <a:p>
            <a:r>
              <a:rPr lang="fr-FR" b="1" dirty="0"/>
              <a:t>PHARES: Définitions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D424E1-EFE8-47B9-77D5-0E9FE73AD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1600200"/>
            <a:ext cx="7920880" cy="4525963"/>
          </a:xfrm>
        </p:spPr>
        <p:txBody>
          <a:bodyPr/>
          <a:lstStyle/>
          <a:p>
            <a:r>
              <a:rPr lang="fr-FR" b="1" dirty="0"/>
              <a:t>Plateforme Hydro-climatique de prévisions et d’Alerte </a:t>
            </a:r>
            <a:br>
              <a:rPr lang="fr-FR" b="1" dirty="0"/>
            </a:br>
            <a:r>
              <a:rPr lang="fr-FR" b="1" dirty="0"/>
              <a:t>pour la Résilience des Écosystèmes et des Sociétés</a:t>
            </a:r>
          </a:p>
          <a:p>
            <a:endParaRPr lang="fr-FR" b="1" dirty="0"/>
          </a:p>
          <a:p>
            <a:r>
              <a:rPr lang="en-US" b="1" dirty="0">
                <a:solidFill>
                  <a:srgbClr val="339933"/>
                </a:solidFill>
              </a:rPr>
              <a:t>Platform for Hydro-climatic forecasting and Alerts </a:t>
            </a:r>
            <a:br>
              <a:rPr lang="en-US" b="1" dirty="0">
                <a:solidFill>
                  <a:srgbClr val="339933"/>
                </a:solidFill>
              </a:rPr>
            </a:br>
            <a:r>
              <a:rPr lang="en-US" b="1" dirty="0">
                <a:solidFill>
                  <a:srgbClr val="339933"/>
                </a:solidFill>
              </a:rPr>
              <a:t>for Resilient Ecosystems and Societies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5470485"/>
      </p:ext>
    </p:extLst>
  </p:cSld>
  <p:clrMapOvr>
    <a:masterClrMapping/>
  </p:clrMapOvr>
  <p:transition spd="slow"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986769-5523-3958-F9B0-957912E5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274638"/>
            <a:ext cx="7776864" cy="850106"/>
          </a:xfrm>
        </p:spPr>
        <p:txBody>
          <a:bodyPr/>
          <a:lstStyle/>
          <a:p>
            <a:r>
              <a:rPr lang="fr-FR" sz="4000" b="1" dirty="0"/>
              <a:t>Vision de plateforme PHARES</a:t>
            </a:r>
            <a:br>
              <a:rPr lang="fr-FR" sz="4000" b="1" dirty="0"/>
            </a:br>
            <a:br>
              <a:rPr lang="fr-FR" sz="4000" b="1" dirty="0"/>
            </a:br>
            <a:endParaRPr lang="fr-FR" sz="4000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5043C3-7F98-10D2-5997-F6412E8A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1417638"/>
            <a:ext cx="7643192" cy="4708525"/>
          </a:xfrm>
        </p:spPr>
        <p:txBody>
          <a:bodyPr/>
          <a:lstStyle/>
          <a:p>
            <a:pPr marL="0" indent="0" algn="just">
              <a:buNone/>
            </a:pPr>
            <a:r>
              <a:rPr lang="fr-FR" sz="2800" b="1" dirty="0"/>
              <a:t>PHARES</a:t>
            </a:r>
            <a:r>
              <a:rPr lang="fr-FR" sz="2800" dirty="0"/>
              <a:t> est une plateforme régionale </a:t>
            </a:r>
            <a:r>
              <a:rPr lang="fr-FR" sz="2800" b="1" dirty="0">
                <a:solidFill>
                  <a:srgbClr val="FF0000"/>
                </a:solidFill>
              </a:rPr>
              <a:t>multi-modèles</a:t>
            </a:r>
            <a:r>
              <a:rPr lang="fr-FR" sz="2800" dirty="0"/>
              <a:t>  destinée à renforcer la </a:t>
            </a:r>
            <a:r>
              <a:rPr lang="fr-FR" sz="2800" b="1" dirty="0">
                <a:solidFill>
                  <a:srgbClr val="FF0000"/>
                </a:solidFill>
              </a:rPr>
              <a:t>prévision opérationnelle</a:t>
            </a:r>
            <a:r>
              <a:rPr lang="fr-FR" sz="2800" dirty="0"/>
              <a:t>  des extrêmes hydro-climatiques, notamment les inondations et les sécheresses. </a:t>
            </a:r>
          </a:p>
          <a:p>
            <a:pPr marL="0" indent="0" algn="just">
              <a:buNone/>
            </a:pPr>
            <a:endParaRPr lang="fr-FR" sz="2800" dirty="0"/>
          </a:p>
          <a:p>
            <a:pPr marL="0" indent="0" algn="just">
              <a:buNone/>
            </a:pPr>
            <a:r>
              <a:rPr lang="fr-FR" sz="2800" dirty="0"/>
              <a:t>Elle répond à un besoin critique : </a:t>
            </a:r>
            <a:r>
              <a:rPr lang="fr-FR" sz="2800" b="1" dirty="0"/>
              <a:t>améliorer  les capacités  régionales  et nationales  de surveillance,  d'anticipation,  d'alerte et de gestion des risques dans un contexte d'accélération du changement climatique.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166692481"/>
      </p:ext>
    </p:extLst>
  </p:cSld>
  <p:clrMapOvr>
    <a:masterClrMapping/>
  </p:clrMapOvr>
  <p:transition spd="slow">
    <p:spli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513DFF-B43A-81E5-318D-B7B000408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219057"/>
            <a:ext cx="8064896" cy="850106"/>
          </a:xfrm>
        </p:spPr>
        <p:txBody>
          <a:bodyPr/>
          <a:lstStyle/>
          <a:p>
            <a:r>
              <a:rPr lang="sv-SE" sz="3200" b="1" dirty="0"/>
              <a:t>Development et p</a:t>
            </a:r>
            <a:r>
              <a:rPr lang="fr-FR" sz="3200" b="1" dirty="0" err="1"/>
              <a:t>roduction</a:t>
            </a:r>
            <a:r>
              <a:rPr lang="fr-FR" sz="3200" b="1" dirty="0"/>
              <a:t> de </a:t>
            </a:r>
            <a:r>
              <a:rPr lang="sv-SE" sz="3200" b="1" dirty="0"/>
              <a:t>PAHRES</a:t>
            </a:r>
            <a:br>
              <a:rPr lang="fr-FR" sz="3200" b="1" dirty="0"/>
            </a:br>
            <a:endParaRPr lang="fr-FR" sz="3200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30791D-6470-90CA-3DBC-EEDB653D2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1097833"/>
            <a:ext cx="7992888" cy="5427511"/>
          </a:xfrm>
        </p:spPr>
        <p:txBody>
          <a:bodyPr/>
          <a:lstStyle/>
          <a:p>
            <a:r>
              <a:rPr lang="fr-FR" sz="2400" dirty="0">
                <a:ea typeface="Arial"/>
              </a:rPr>
              <a:t>Co-</a:t>
            </a:r>
            <a:r>
              <a:rPr lang="fr-FR" sz="2400" dirty="0" err="1">
                <a:ea typeface="Arial"/>
              </a:rPr>
              <a:t>developpé</a:t>
            </a:r>
            <a:r>
              <a:rPr lang="fr-FR" sz="2400" dirty="0">
                <a:ea typeface="Arial"/>
              </a:rPr>
              <a:t> par SMHI et AGRHYMET</a:t>
            </a:r>
          </a:p>
          <a:p>
            <a:r>
              <a:rPr lang="fr-FR" sz="2400" dirty="0">
                <a:ea typeface="Arial"/>
              </a:rPr>
              <a:t>Conception de la plateforme et spécifications techniques.</a:t>
            </a:r>
          </a:p>
          <a:p>
            <a:r>
              <a:rPr lang="fr-FR" sz="2400" dirty="0">
                <a:ea typeface="Arial"/>
              </a:rPr>
              <a:t>Développement de la plateforme multi-modèles sur le cloud, incluant la migration de FANFAR vers le nouveau système.</a:t>
            </a:r>
          </a:p>
          <a:p>
            <a:r>
              <a:rPr lang="fr-FR" sz="2400" dirty="0">
                <a:ea typeface="Arial"/>
              </a:rPr>
              <a:t>Plateforme cloud hébergé par Google Cloud</a:t>
            </a:r>
          </a:p>
          <a:p>
            <a:r>
              <a:rPr lang="fr-FR" sz="2400" dirty="0">
                <a:ea typeface="Arial"/>
              </a:rPr>
              <a:t>Migration de la production actuelle de prévisions FANFAR vers le cloud et création de la documentation système et de la plateforme.</a:t>
            </a:r>
          </a:p>
          <a:p>
            <a:r>
              <a:rPr lang="fr-FR" sz="2400" dirty="0">
                <a:ea typeface="Arial"/>
              </a:rPr>
              <a:t>Renforcement des compétences des utilisateurs de la plateforme</a:t>
            </a:r>
            <a:endParaRPr lang="en-US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80414658"/>
      </p:ext>
    </p:extLst>
  </p:cSld>
  <p:clrMapOvr>
    <a:masterClrMapping/>
  </p:clrMapOvr>
  <p:transition spd="slow">
    <p:spli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1152C4-415D-3B88-07B9-3168D91BE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274638"/>
            <a:ext cx="7992888" cy="850106"/>
          </a:xfrm>
        </p:spPr>
        <p:txBody>
          <a:bodyPr/>
          <a:lstStyle/>
          <a:p>
            <a:r>
              <a:rPr lang="sv-SE" sz="3200" b="1" dirty="0"/>
              <a:t>Development et p</a:t>
            </a:r>
            <a:r>
              <a:rPr lang="fr-FR" sz="3200" b="1" dirty="0" err="1"/>
              <a:t>roduction</a:t>
            </a:r>
            <a:r>
              <a:rPr lang="fr-FR" sz="3200" b="1" dirty="0"/>
              <a:t> de </a:t>
            </a:r>
            <a:r>
              <a:rPr lang="sv-SE" sz="3200" b="1" dirty="0"/>
              <a:t>PAHRES</a:t>
            </a:r>
            <a:br>
              <a:rPr lang="fr-FR" sz="3200" b="1" dirty="0"/>
            </a:br>
            <a:br>
              <a:rPr lang="fr-FR" b="1" dirty="0"/>
            </a:br>
            <a:endParaRPr lang="fr-FR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9CCBE8-E602-F578-3551-00CA485F2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1124744"/>
            <a:ext cx="7776864" cy="4997152"/>
          </a:xfrm>
        </p:spPr>
        <p:txBody>
          <a:bodyPr/>
          <a:lstStyle/>
          <a:p>
            <a:pPr marL="0" indent="0">
              <a:buNone/>
            </a:pPr>
            <a:r>
              <a:rPr lang="fr-FR" sz="2400" b="1" dirty="0"/>
              <a:t>La plateforme PHARES</a:t>
            </a:r>
            <a:r>
              <a:rPr lang="fr-FR" sz="2400" dirty="0"/>
              <a:t>  :</a:t>
            </a:r>
          </a:p>
          <a:p>
            <a:r>
              <a:rPr lang="fr-FR" sz="2800" dirty="0"/>
              <a:t>capitalise  les  acquis  existants,  notamment  </a:t>
            </a:r>
            <a:r>
              <a:rPr lang="fr-FR" sz="2800" b="1" dirty="0">
                <a:solidFill>
                  <a:srgbClr val="FF0000"/>
                </a:solidFill>
              </a:rPr>
              <a:t>FANFAR</a:t>
            </a:r>
            <a:endParaRPr lang="fr-FR" sz="2800" dirty="0"/>
          </a:p>
          <a:p>
            <a:r>
              <a:rPr lang="fr-FR" sz="2800" dirty="0"/>
              <a:t>prépare  l'intégration  de  nouveaux systèmes comme EF5-WA, FFGS</a:t>
            </a:r>
          </a:p>
          <a:p>
            <a:r>
              <a:rPr lang="fr-FR" sz="2800" dirty="0"/>
              <a:t>Prévoit l’exploitation maximale des produits et services disponibles aux échelles régionale et internationale</a:t>
            </a:r>
          </a:p>
          <a:p>
            <a:r>
              <a:rPr lang="fr-FR" sz="2800" dirty="0"/>
              <a:t>adopte une stratégie </a:t>
            </a:r>
            <a:r>
              <a:rPr lang="fr-FR" sz="2800" b="1" dirty="0"/>
              <a:t>d'harmonisation</a:t>
            </a:r>
            <a:r>
              <a:rPr lang="fr-FR" sz="2800" dirty="0"/>
              <a:t>, </a:t>
            </a:r>
            <a:r>
              <a:rPr lang="fr-FR" sz="2800" b="1" dirty="0"/>
              <a:t>d'intégration</a:t>
            </a:r>
            <a:r>
              <a:rPr lang="fr-FR" sz="2800" dirty="0"/>
              <a:t> et de </a:t>
            </a:r>
            <a:r>
              <a:rPr lang="fr-FR" sz="2800" b="1" dirty="0"/>
              <a:t>modernisation</a:t>
            </a:r>
            <a:r>
              <a:rPr lang="fr-FR" sz="2800" dirty="0"/>
              <a:t> des systèmes de prévision.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63098803"/>
      </p:ext>
    </p:extLst>
  </p:cSld>
  <p:clrMapOvr>
    <a:masterClrMapping/>
  </p:clrMapOvr>
  <p:transition spd="slow">
    <p:spli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latshållare för innehåll 7" descr="En bild som visar skärmbild, tecknad serie, Grafik, design&#10;&#10;AI-genererat innehåll kan vara felaktigt.">
            <a:extLst>
              <a:ext uri="{FF2B5EF4-FFF2-40B4-BE49-F238E27FC236}">
                <a16:creationId xmlns:a16="http://schemas.microsoft.com/office/drawing/2014/main" id="{F097BB27-1668-8AE9-0DF7-27118F84F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03180" y="2328582"/>
            <a:ext cx="3366316" cy="3366316"/>
          </a:xfrm>
        </p:spPr>
      </p:pic>
      <p:pic>
        <p:nvPicPr>
          <p:cNvPr id="6" name="Bildobjekt 1292552405">
            <a:extLst>
              <a:ext uri="{FF2B5EF4-FFF2-40B4-BE49-F238E27FC236}">
                <a16:creationId xmlns:a16="http://schemas.microsoft.com/office/drawing/2014/main" id="{CD52B229-9B72-9BCF-7026-0F77B6B33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97329" y="2459526"/>
            <a:ext cx="3825846" cy="2152038"/>
          </a:xfrm>
          <a:prstGeom prst="rect">
            <a:avLst/>
          </a:prstGeom>
        </p:spPr>
      </p:pic>
      <p:sp>
        <p:nvSpPr>
          <p:cNvPr id="9" name="Pil: höger 8">
            <a:extLst>
              <a:ext uri="{FF2B5EF4-FFF2-40B4-BE49-F238E27FC236}">
                <a16:creationId xmlns:a16="http://schemas.microsoft.com/office/drawing/2014/main" id="{F4FD5065-DF29-4C03-8FCE-F5EC13D4CC44}"/>
              </a:ext>
            </a:extLst>
          </p:cNvPr>
          <p:cNvSpPr/>
          <p:nvPr/>
        </p:nvSpPr>
        <p:spPr>
          <a:xfrm>
            <a:off x="4791751" y="3349399"/>
            <a:ext cx="631869" cy="372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7FCA41C-B269-9642-8409-30F52BF463E1}"/>
              </a:ext>
            </a:extLst>
          </p:cNvPr>
          <p:cNvSpPr txBox="1"/>
          <p:nvPr/>
        </p:nvSpPr>
        <p:spPr>
          <a:xfrm>
            <a:off x="4923002" y="1268093"/>
            <a:ext cx="42209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AGRHYMET’s multi-model platform for operational forecasting of hydro-climatic extremes: the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West Africa and Sahel </a:t>
            </a:r>
            <a:r>
              <a:rPr lang="en-US" b="1" dirty="0">
                <a:solidFill>
                  <a:srgbClr val="000000"/>
                </a:solidFill>
              </a:rPr>
              <a:t>(WAS) platform</a:t>
            </a:r>
            <a:endParaRPr lang="en-GB" dirty="0"/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A03E75F1-3B58-B26C-D1D8-C7C48AEF139E}"/>
              </a:ext>
            </a:extLst>
          </p:cNvPr>
          <p:cNvSpPr txBox="1"/>
          <p:nvPr/>
        </p:nvSpPr>
        <p:spPr>
          <a:xfrm>
            <a:off x="897329" y="1230941"/>
            <a:ext cx="3990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AGRHYMET + SMHI long-term collaboration on FANFAR system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hlinkClick r:id="rId5"/>
              </a:rPr>
              <a:t>www.fanfar.eu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endParaRPr lang="en-GB" dirty="0"/>
          </a:p>
        </p:txBody>
      </p:sp>
      <p:sp>
        <p:nvSpPr>
          <p:cNvPr id="15" name="Pil: höger 14">
            <a:extLst>
              <a:ext uri="{FF2B5EF4-FFF2-40B4-BE49-F238E27FC236}">
                <a16:creationId xmlns:a16="http://schemas.microsoft.com/office/drawing/2014/main" id="{94B37F50-B2CB-5151-7DAE-B13ACF2CC44E}"/>
              </a:ext>
            </a:extLst>
          </p:cNvPr>
          <p:cNvSpPr/>
          <p:nvPr/>
        </p:nvSpPr>
        <p:spPr>
          <a:xfrm rot="19937873">
            <a:off x="4689214" y="4721381"/>
            <a:ext cx="628279" cy="372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A9CBAD0A-99C9-AE96-546A-CA626FAF7F17}"/>
              </a:ext>
            </a:extLst>
          </p:cNvPr>
          <p:cNvSpPr txBox="1"/>
          <p:nvPr/>
        </p:nvSpPr>
        <p:spPr>
          <a:xfrm>
            <a:off x="827584" y="5180390"/>
            <a:ext cx="3859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AGRHYMET + other collaborators and systems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endParaRPr lang="en-GB" dirty="0"/>
          </a:p>
        </p:txBody>
      </p:sp>
      <p:pic>
        <p:nvPicPr>
          <p:cNvPr id="2" name="Platshållare för innehåll 7" descr="En bild som visar skärmbild, tecknad serie, Grafik, design&#10;&#10;AI-genererat innehåll kan vara felaktigt.">
            <a:extLst>
              <a:ext uri="{FF2B5EF4-FFF2-40B4-BE49-F238E27FC236}">
                <a16:creationId xmlns:a16="http://schemas.microsoft.com/office/drawing/2014/main" id="{8882DC8E-D486-FDF3-E184-A6C100362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03180" y="1471332"/>
            <a:ext cx="3366316" cy="3366316"/>
          </a:xfr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0750862-4C33-BBC6-0AB2-39FC97C0F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904" y="2852936"/>
            <a:ext cx="3673096" cy="319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37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9FF10CC-C1A4-3AF0-1AA9-5D36D6E3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476672"/>
            <a:ext cx="7801200" cy="696000"/>
          </a:xfrm>
        </p:spPr>
        <p:txBody>
          <a:bodyPr/>
          <a:lstStyle/>
          <a:p>
            <a:r>
              <a:rPr lang="en-GB" dirty="0"/>
              <a:t>ICT foundations of the PHARES platform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25BCA23-D7F3-49BD-AD9C-A848BFE9E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757250"/>
            <a:ext cx="3744416" cy="1959782"/>
          </a:xfrm>
        </p:spPr>
        <p:txBody>
          <a:bodyPr/>
          <a:lstStyle/>
          <a:p>
            <a:r>
              <a:rPr lang="en-GB" sz="2400" dirty="0"/>
              <a:t>Built on Google Cloud Platform (GCP)</a:t>
            </a:r>
          </a:p>
          <a:p>
            <a:r>
              <a:rPr lang="en-GB" sz="2400" dirty="0"/>
              <a:t>Architecture and key GCP components </a:t>
            </a:r>
            <a:r>
              <a:rPr lang="en-GB" sz="2400" dirty="0">
                <a:sym typeface="Wingdings" panose="05000000000000000000" pitchFamily="2" charset="2"/>
              </a:rPr>
              <a:t></a:t>
            </a:r>
          </a:p>
          <a:p>
            <a:endParaRPr lang="en-GB" sz="2400" dirty="0">
              <a:sym typeface="Wingdings" panose="05000000000000000000" pitchFamily="2" charset="2"/>
            </a:endParaRPr>
          </a:p>
          <a:p>
            <a:endParaRPr lang="en-GB" sz="2400" dirty="0"/>
          </a:p>
        </p:txBody>
      </p:sp>
      <p:pic>
        <p:nvPicPr>
          <p:cNvPr id="4" name="Bildobjekt 1048608182">
            <a:extLst>
              <a:ext uri="{FF2B5EF4-FFF2-40B4-BE49-F238E27FC236}">
                <a16:creationId xmlns:a16="http://schemas.microsoft.com/office/drawing/2014/main" id="{AC2911B7-57E4-BFA9-E0D7-A8A0C46B1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169040" y="1757250"/>
            <a:ext cx="4609242" cy="36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5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0C10AE-FBC6-30C2-B605-7F28F9AA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274638"/>
            <a:ext cx="7571184" cy="778098"/>
          </a:xfrm>
        </p:spPr>
        <p:txBody>
          <a:bodyPr/>
          <a:lstStyle/>
          <a:p>
            <a:r>
              <a:rPr lang="fr-FR" sz="3600" b="1" dirty="0"/>
              <a:t>Portail de visualisation PHARES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44D178F-848C-CDF1-6CB2-D6660BCEEBB2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1198636" y="1196752"/>
            <a:ext cx="7499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fr-FR" sz="36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https://phares-agrhymet.cilss.int</a:t>
            </a:r>
            <a:r>
              <a:rPr lang="fr-FR" sz="3600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FDE00D-58C6-E92F-395D-83DAC1ACF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337265"/>
            <a:ext cx="3596699" cy="408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93968"/>
      </p:ext>
    </p:extLst>
  </p:cSld>
  <p:clrMapOvr>
    <a:masterClrMapping/>
  </p:clrMapOvr>
  <p:transition spd="slow">
    <p:spli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699D6-B023-61E1-3DA8-061FCD254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274638"/>
            <a:ext cx="8064896" cy="634082"/>
          </a:xfrm>
        </p:spPr>
        <p:txBody>
          <a:bodyPr/>
          <a:lstStyle/>
          <a:p>
            <a:r>
              <a:rPr lang="en-US" sz="3200" b="1" dirty="0"/>
              <a:t>PHARES API for West Africa and Sahel</a:t>
            </a:r>
            <a:br>
              <a:rPr lang="en-US" b="1" dirty="0"/>
            </a:b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8EC29E-09F7-5232-1893-8AB2576EF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48" y="1052736"/>
            <a:ext cx="8229600" cy="4525963"/>
          </a:xfrm>
        </p:spPr>
        <p:txBody>
          <a:bodyPr/>
          <a:lstStyle/>
          <a:p>
            <a:r>
              <a:rPr lang="fr-FR" sz="2800" dirty="0"/>
              <a:t>Cette API permet d'accéder aux données de prévision de la plateforme PHARES.</a:t>
            </a:r>
          </a:p>
          <a:p>
            <a:pPr marL="0" indent="0">
              <a:buNone/>
            </a:pPr>
            <a:r>
              <a:rPr lang="fr-FR" sz="2800" dirty="0"/>
              <a:t> </a:t>
            </a:r>
          </a:p>
          <a:p>
            <a:r>
              <a:rPr lang="fr-FR" sz="2800" dirty="0"/>
              <a:t>Les données sont stockées dans une ou plusieurs zones (généralement un pipeline de prévision spécifique). </a:t>
            </a:r>
          </a:p>
          <a:p>
            <a:endParaRPr lang="fr-FR" sz="2400" dirty="0"/>
          </a:p>
          <a:p>
            <a:r>
              <a:rPr lang="fr-FR" sz="2800" dirty="0"/>
              <a:t>L'API propose plusieurs points d'accès offrant différentes fonctionnalités</a:t>
            </a:r>
          </a:p>
        </p:txBody>
      </p:sp>
    </p:spTree>
    <p:extLst>
      <p:ext uri="{BB962C8B-B14F-4D97-AF65-F5344CB8AC3E}">
        <p14:creationId xmlns:p14="http://schemas.microsoft.com/office/powerpoint/2010/main" val="1261698502"/>
      </p:ext>
    </p:extLst>
  </p:cSld>
  <p:clrMapOvr>
    <a:masterClrMapping/>
  </p:clrMapOvr>
  <p:transition spd="slow"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3D3D-DE48-A691-3B81-82E7670B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32A171-7CB5-C1EE-A8B6-50FDFE40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274638"/>
            <a:ext cx="8172400" cy="634082"/>
          </a:xfrm>
        </p:spPr>
        <p:txBody>
          <a:bodyPr/>
          <a:lstStyle/>
          <a:p>
            <a:r>
              <a:rPr lang="en-US" sz="3200" b="1" dirty="0"/>
              <a:t>PHARES API : Services</a:t>
            </a:r>
            <a:br>
              <a:rPr lang="en-US" b="1" dirty="0"/>
            </a:b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77F363-5616-CE39-F7F8-5CBA9C192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412776"/>
            <a:ext cx="8229600" cy="4525963"/>
          </a:xfrm>
        </p:spPr>
        <p:txBody>
          <a:bodyPr/>
          <a:lstStyle/>
          <a:p>
            <a:r>
              <a:rPr lang="fr-FR" sz="2800" b="1" dirty="0"/>
              <a:t>Accès aux données </a:t>
            </a:r>
            <a:r>
              <a:rPr lang="fr-FR" sz="2800" dirty="0"/>
              <a:t>: Lister et télécharger les données des zones de stockage.</a:t>
            </a:r>
          </a:p>
          <a:p>
            <a:endParaRPr lang="fr-FR" sz="2800" dirty="0"/>
          </a:p>
          <a:p>
            <a:r>
              <a:rPr lang="fr-FR" sz="2800" b="1" dirty="0"/>
              <a:t>Visualisation</a:t>
            </a:r>
            <a:r>
              <a:rPr lang="fr-FR" sz="2800" dirty="0"/>
              <a:t> : Représenter graphiquement un ensemble de données sélectionné.</a:t>
            </a:r>
          </a:p>
          <a:p>
            <a:endParaRPr lang="fr-FR" sz="2800" dirty="0"/>
          </a:p>
          <a:p>
            <a:r>
              <a:rPr lang="fr-FR" sz="2800" b="1" dirty="0"/>
              <a:t>Bulletin</a:t>
            </a:r>
            <a:r>
              <a:rPr lang="fr-FR" sz="2800" dirty="0"/>
              <a:t> : Générer un bulletin provisoire à partir des données de prévision sélectionnées.</a:t>
            </a:r>
          </a:p>
        </p:txBody>
      </p:sp>
    </p:spTree>
    <p:extLst>
      <p:ext uri="{BB962C8B-B14F-4D97-AF65-F5344CB8AC3E}">
        <p14:creationId xmlns:p14="http://schemas.microsoft.com/office/powerpoint/2010/main" val="3076238954"/>
      </p:ext>
    </p:extLst>
  </p:cSld>
  <p:clrMapOvr>
    <a:masterClrMapping/>
  </p:clrMapOvr>
  <p:transition spd="slow">
    <p:spli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2843808" y="4887163"/>
            <a:ext cx="4072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00" b="1" dirty="0">
                <a:solidFill>
                  <a:srgbClr val="00B050"/>
                </a:solidFill>
              </a:rPr>
              <a:t>MERCI </a:t>
            </a:r>
          </a:p>
          <a:p>
            <a:pPr algn="ctr"/>
            <a:r>
              <a:rPr lang="en-US" sz="2700" b="1" dirty="0">
                <a:solidFill>
                  <a:srgbClr val="00B050"/>
                </a:solidFill>
              </a:rPr>
              <a:t>DE VOTRE ATTENTION</a:t>
            </a:r>
            <a:endParaRPr lang="fr-FR" sz="2700" b="1" dirty="0">
              <a:solidFill>
                <a:srgbClr val="00B05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90FECC2-1A1C-4665-910F-6B9BC25184E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862" y="1268760"/>
            <a:ext cx="3089514" cy="342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6155"/>
      </p:ext>
    </p:extLst>
  </p:cSld>
  <p:clrMapOvr>
    <a:masterClrMapping/>
  </p:clrMapOvr>
  <p:transition spd="slow">
    <p:split/>
  </p:transition>
</p:sld>
</file>

<file path=ppt/theme/theme1.xml><?xml version="1.0" encoding="utf-8"?>
<a:theme xmlns:a="http://schemas.openxmlformats.org/drawingml/2006/main" name="1_Modèle par défaut">
  <a:themeElements>
    <a:clrScheme name="1_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30815</TotalTime>
  <Words>430</Words>
  <Application>Microsoft Office PowerPoint</Application>
  <PresentationFormat>Affichage à l'écran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Arial Narrow</vt:lpstr>
      <vt:lpstr>Franklin Gothic Demi Cond</vt:lpstr>
      <vt:lpstr>Wingdings</vt:lpstr>
      <vt:lpstr>1_Modèle par défaut</vt:lpstr>
      <vt:lpstr>Introduction à la plateforme PHARES</vt:lpstr>
      <vt:lpstr>Contenu de la présentation</vt:lpstr>
      <vt:lpstr>PHARES: Définitions</vt:lpstr>
      <vt:lpstr>Vision de plateforme PHARES  </vt:lpstr>
      <vt:lpstr>Development et production de PAHRES </vt:lpstr>
      <vt:lpstr>Development et production de PAHRES  </vt:lpstr>
      <vt:lpstr>Présentation PowerPoint</vt:lpstr>
      <vt:lpstr>ICT foundations of the PHARES platform</vt:lpstr>
      <vt:lpstr>Portail de visualisation PHARES</vt:lpstr>
      <vt:lpstr>PHARES API for West Africa and Sahel  </vt:lpstr>
      <vt:lpstr>PHARES API : Services 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user</dc:creator>
  <cp:lastModifiedBy>Valentin</cp:lastModifiedBy>
  <cp:revision>979</cp:revision>
  <cp:lastPrinted>2018-07-16T07:24:37Z</cp:lastPrinted>
  <dcterms:created xsi:type="dcterms:W3CDTF">2008-03-06T08:54:57Z</dcterms:created>
  <dcterms:modified xsi:type="dcterms:W3CDTF">2026-05-19T12:03:53Z</dcterms:modified>
</cp:coreProperties>
</file>